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EXECUTIVE OVERVIEW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Eliminating EHR Alert Fatigue with Contextual Clinical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THE CRISIS: CLINICIAN ALERT FATIGUE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F172A"/>
                </a:solidFill>
              </a:rPr>
              <a:t>90%+ Alert Override Rate: </a:t>
            </a:r>
            <a:r>
              <a:rPr sz="1050">
                <a:solidFill>
                  <a:srgbClr val="1E293B"/>
                </a:solidFill>
              </a:rPr>
              <a:t>Traditional EHR systems blindly trigger pop-ups for any drug pair, regardless of patient reality. Clinicians become desensitized and bypass warnings.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F172A"/>
                </a:solidFill>
              </a:rPr>
              <a:t>Missed Life-Threatening Risks: </a:t>
            </a:r>
            <a:r>
              <a:rPr sz="1050">
                <a:solidFill>
                  <a:srgbClr val="1E293B"/>
                </a:solidFill>
              </a:rPr>
              <a:t>When severe interactions occur in vulnerable patients (e.g. renal failure, abnormal INR), warnings get lost in the noise, leading to preventable hospitalizations.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F172A"/>
                </a:solidFill>
              </a:rPr>
              <a:t>Zero Patient Lab Context: </a:t>
            </a:r>
            <a:r>
              <a:rPr sz="1050">
                <a:solidFill>
                  <a:srgbClr val="1E293B"/>
                </a:solidFill>
              </a:rPr>
              <a:t>Legacy rule-engines do not cross-reference organ clearance (eGFR), metabolic enzymes (ALT/AST), or current electrolyte balances (Potassium, INR).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937760"/>
            <a:ext cx="4480560" cy="10058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🚨 Over 90% of Hospital DDI Alerts Ignored</a:t>
            </a:r>
          </a:p>
          <a:p>
            <a:pPr algn="ctr">
              <a:defRPr sz="1000">
                <a:solidFill>
                  <a:srgbClr val="1E293B"/>
                </a:solidFill>
              </a:defRPr>
            </a:pPr>
            <a:r>
              <a:t>Direct cause of medication errors &amp; physician burnout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THE SOLUTION: PRECISION CONTEXTUAL CDS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1. FHIR Patient Laboratory RAG: </a:t>
            </a:r>
            <a:r>
              <a:rPr sz="1050">
                <a:solidFill>
                  <a:srgbClr val="1E293B"/>
                </a:solidFill>
              </a:rPr>
              <a:t>Ingests patient-specific eGFR, serum creatinine, potassium, INR, and transaminases directly into the reasoning prompt.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2. Intelligent Alert Fatigue Suppression: </a:t>
            </a:r>
            <a:r>
              <a:rPr sz="1050">
                <a:solidFill>
                  <a:srgbClr val="1E293B"/>
                </a:solidFill>
              </a:rPr>
              <a:t>Actively suppresses generic alerts when patient organ function is normal and therapy is benign (e.g. statin + short-course azithromycin).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3. Actionable Clinical Decision Bar: </a:t>
            </a:r>
            <a:r>
              <a:rPr sz="1050">
                <a:solidFill>
                  <a:srgbClr val="1E293B"/>
                </a:solidFill>
              </a:rPr>
              <a:t>Empowers clinicians with 1-click evidence-based substitutions (e.g. Apixaban), dose adjustments, or reasoned overrides.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0F172A"/>
                </a:solidFill>
              </a:rPr>
              <a:t>4. Immutable HIPAA Audit Trail: </a:t>
            </a:r>
            <a:r>
              <a:rPr sz="1050">
                <a:solidFill>
                  <a:srgbClr val="1E293B"/>
                </a:solidFill>
              </a:rPr>
              <a:t>Tamper-evident logging of every clinical action, rationale, and provider ID for regulatory governance.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Contextual RAG Architecture &amp; Decision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80160"/>
            <a:ext cx="3749039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Clinician Prescription Order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Patient Profile + Newly Ordered Medication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108960" cy="8686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FHIR Patient Record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Labs (eGFR, INR, K+), Diagnoses,</a:t>
            </a:r>
            <a:br/>
            <a:r>
              <a:t>Active Medications &amp; Dosages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6000"/>
            <a:ext cx="33832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RAG Engine Retriever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Semantic Vector Search &amp;</a:t>
            </a:r>
            <a:br/>
            <a:r>
              <a:t>Pairwise Interaction Matcher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286000"/>
            <a:ext cx="3108960" cy="8686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6D28D9"/>
                </a:solidFill>
              </a:defRPr>
            </a:pPr>
            <a:r>
              <a:t>Local ChromaDB Store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DrugBank / RxNorm Chunks</a:t>
            </a:r>
            <a:br/>
            <a:r>
              <a:t>Mechanisms, Enzymes, Overrides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474720"/>
            <a:ext cx="429768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B45309"/>
                </a:solidFill>
              </a:defRPr>
            </a:pPr>
            <a:r>
              <a:t>LLM Contextual Evaluator (MaaS)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azure/genailab-maas-gpt-4o-mini | Temperature 0.1</a:t>
            </a:r>
            <a:br/>
            <a:r>
              <a:t>Strict JSON Schema &amp; Suppression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526280"/>
            <a:ext cx="4389120" cy="8686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EF4444"/>
                </a:solidFill>
              </a:defRPr>
            </a:pPr>
            <a:r>
              <a:t>🔴 Contextual Risk Active (Tier 1/2)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Elevates to Critical/Moderate</a:t>
            </a:r>
            <a:br/>
            <a:r>
              <a:t>Identifies Abnormal Lab Driver (INR 3.2, eGFR 34)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526280"/>
            <a:ext cx="4389120" cy="8686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🟢 Contextually Suppressed (Tier 3)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Alert Fatigue Eliminated (is_suppressed=true)</a:t>
            </a:r>
            <a:br/>
            <a:r>
              <a:t>Normal Organ Reserve &amp; Lab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5577840"/>
            <a:ext cx="52120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t>Clinician Action &amp; Decision Workflow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Accept Alternate Drug  |  Adjust Dosage  |  Override with Clinical Reason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6217920"/>
            <a:ext cx="4297680" cy="411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defRPr sz="1050" b="1">
                <a:solidFill>
                  <a:srgbClr val="1E293B"/>
                </a:solidFill>
              </a:defRPr>
            </a:pPr>
            <a:r>
              <a:t>Immutable HIPAA Audit Trail (audit_log.json)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Records Timestamp, Patient ID, Drug, Action &amp; Provider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⚡ Key Innovation: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Patient lab reality dictates whether an alert is shown or suppressed.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FEATURES, VALIDATION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Key Clinical Highlights, Real-World Cases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🔴 CASE 1: SEVERE RISK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Patient: </a:t>
            </a:r>
            <a:r>
              <a:rPr sz="900">
                <a:solidFill>
                  <a:srgbClr val="1E293B"/>
                </a:solidFill>
              </a:rPr>
              <a:t>Eleanor Vance (72F), Atrial Fibrillation, CKD Stage 3b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Active Regimen: </a:t>
            </a:r>
            <a:r>
              <a:rPr sz="900">
                <a:solidFill>
                  <a:srgbClr val="1E293B"/>
                </a:solidFill>
              </a:rPr>
              <a:t>Warfarin 5mg daily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Prescribed: </a:t>
            </a:r>
            <a:r>
              <a:rPr sz="900">
                <a:solidFill>
                  <a:srgbClr val="1E293B"/>
                </a:solidFill>
              </a:rPr>
              <a:t>Amiodarone 200mg daily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Lab Context: </a:t>
            </a:r>
            <a:r>
              <a:rPr sz="900">
                <a:solidFill>
                  <a:srgbClr val="1E293B"/>
                </a:solidFill>
              </a:rPr>
              <a:t>INR 3.2 (Supratherapeutic), eGFR 34 (Impaired clearance)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AI Action: </a:t>
            </a:r>
            <a:r>
              <a:rPr sz="900">
                <a:solidFill>
                  <a:srgbClr val="1E293B"/>
                </a:solidFill>
              </a:rPr>
              <a:t>ELEVATES TO CRITICAL ALERT. Identifies CYP2C9 metabolic blockage multiplying bleeding risk.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Recommendation: </a:t>
            </a:r>
            <a:r>
              <a:rPr sz="900">
                <a:solidFill>
                  <a:srgbClr val="1E293B"/>
                </a:solidFill>
              </a:rPr>
              <a:t>Switch to Apixaban (DOAC) 5mg BID or reduce Warfarin by 50%.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🟢 CASE 2: SUPPRESSED ALERT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Patient: </a:t>
            </a:r>
            <a:r>
              <a:rPr sz="900">
                <a:solidFill>
                  <a:srgbClr val="1E293B"/>
                </a:solidFill>
              </a:rPr>
              <a:t>Marcus Chen (45M), Primary Hyperlipidemia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Active Regimen: </a:t>
            </a:r>
            <a:r>
              <a:rPr sz="900">
                <a:solidFill>
                  <a:srgbClr val="1E293B"/>
                </a:solidFill>
              </a:rPr>
              <a:t>Atorvastatin 20mg daily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Prescribed: </a:t>
            </a:r>
            <a:r>
              <a:rPr sz="900">
                <a:solidFill>
                  <a:srgbClr val="1E293B"/>
                </a:solidFill>
              </a:rPr>
              <a:t>Azithromycin 500mg (5-day course)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Lab Context: </a:t>
            </a:r>
            <a:r>
              <a:rPr sz="900">
                <a:solidFill>
                  <a:srgbClr val="1E293B"/>
                </a:solidFill>
              </a:rPr>
              <a:t>eGFR 95 (Normal), ALT 22 (Normal), AST 19 (Normal), CK 85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AI Action: </a:t>
            </a:r>
            <a:r>
              <a:rPr sz="900">
                <a:solidFill>
                  <a:srgbClr val="1E293B"/>
                </a:solidFill>
              </a:rPr>
              <a:t>ALERT FATIGUE SUPPRESSED. Flags that Azithromycin is an azalide with negligible CYP3A4 inhibition.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Clinical Result: </a:t>
            </a:r>
            <a:r>
              <a:rPr sz="900">
                <a:solidFill>
                  <a:srgbClr val="1E293B"/>
                </a:solidFill>
              </a:rPr>
              <a:t>Clinician is spared an unnecessary warning; safe to proceed with standard prescription.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⚖️ ACTION BAR &amp; GOVERNANCE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1-Click Accept Alternate: </a:t>
            </a:r>
            <a:r>
              <a:rPr sz="900">
                <a:solidFill>
                  <a:srgbClr val="1E293B"/>
                </a:solidFill>
              </a:rPr>
              <a:t>Instant substitution with recommended safe therapy (e.g. Apixaban).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Dosage Titration Tool: </a:t>
            </a:r>
            <a:r>
              <a:rPr sz="900">
                <a:solidFill>
                  <a:srgbClr val="1E293B"/>
                </a:solidFill>
              </a:rPr>
              <a:t>Adjusts and documents dose modifications (e.g. 50% Warfarin cut).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Structured Override: </a:t>
            </a:r>
            <a:r>
              <a:rPr sz="900">
                <a:solidFill>
                  <a:srgbClr val="1E293B"/>
                </a:solidFill>
              </a:rPr>
              <a:t>Mandatory clinical justification capture when overriding critical warnings.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HIPAA Audit Trail: </a:t>
            </a:r>
            <a:r>
              <a:rPr sz="900">
                <a:solidFill>
                  <a:srgbClr val="1E293B"/>
                </a:solidFill>
              </a:rPr>
              <a:t>Immutable timestamps, patient MRN, risk tier, action, and clinician ID.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Interoperable Export: </a:t>
            </a:r>
            <a:r>
              <a:rPr sz="900">
                <a:solidFill>
                  <a:srgbClr val="1E293B"/>
                </a:solidFill>
              </a:rPr>
              <a:t>Live CSV &amp; JSON export capabilities for EHR integration and clinical audits.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